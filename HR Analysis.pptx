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47274"/>
    <a:srgbClr val="3E888A"/>
    <a:srgbClr val="5DB4B6"/>
    <a:srgbClr val="58B2B4"/>
    <a:srgbClr val="AED9DA"/>
    <a:srgbClr val="4CA6A8"/>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75" d="100"/>
          <a:sy n="75" d="100"/>
        </p:scale>
        <p:origin x="77" y="67"/>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Joel" userId="e176d113b13744d1" providerId="LiveId" clId="{B0572F57-E072-4CA0-90E7-0CFE9A8EF8BE}"/>
    <pc:docChg chg="undo custSel modSld">
      <pc:chgData name="Sam Joel" userId="e176d113b13744d1" providerId="LiveId" clId="{B0572F57-E072-4CA0-90E7-0CFE9A8EF8BE}" dt="2025-07-07T05:14:21.019" v="529" actId="1076"/>
      <pc:docMkLst>
        <pc:docMk/>
      </pc:docMkLst>
      <pc:sldChg chg="addSp delSp modSp mod setBg">
        <pc:chgData name="Sam Joel" userId="e176d113b13744d1" providerId="LiveId" clId="{B0572F57-E072-4CA0-90E7-0CFE9A8EF8BE}" dt="2025-07-07T05:14:21.019" v="529" actId="1076"/>
        <pc:sldMkLst>
          <pc:docMk/>
          <pc:sldMk cId="7630729" sldId="256"/>
        </pc:sldMkLst>
        <pc:spChg chg="add del mod">
          <ac:chgData name="Sam Joel" userId="e176d113b13744d1" providerId="LiveId" clId="{B0572F57-E072-4CA0-90E7-0CFE9A8EF8BE}" dt="2025-07-07T05:13:58.613" v="520" actId="478"/>
          <ac:spMkLst>
            <pc:docMk/>
            <pc:sldMk cId="7630729" sldId="256"/>
            <ac:spMk id="2" creationId="{09C6B542-958C-E5CC-853A-1010F00DD049}"/>
          </ac:spMkLst>
        </pc:spChg>
        <pc:spChg chg="add del mod">
          <ac:chgData name="Sam Joel" userId="e176d113b13744d1" providerId="LiveId" clId="{B0572F57-E072-4CA0-90E7-0CFE9A8EF8BE}" dt="2025-07-07T05:13:55.874" v="519" actId="478"/>
          <ac:spMkLst>
            <pc:docMk/>
            <pc:sldMk cId="7630729" sldId="256"/>
            <ac:spMk id="3" creationId="{3BC804BF-21ED-C287-D8D9-909021D5EE03}"/>
          </ac:spMkLst>
        </pc:spChg>
        <pc:spChg chg="del">
          <ac:chgData name="Sam Joel" userId="e176d113b13744d1" providerId="LiveId" clId="{B0572F57-E072-4CA0-90E7-0CFE9A8EF8BE}" dt="2025-07-07T04:50:57.281" v="12" actId="478"/>
          <ac:spMkLst>
            <pc:docMk/>
            <pc:sldMk cId="7630729" sldId="256"/>
            <ac:spMk id="10" creationId="{00000000-0000-0000-0000-000000000000}"/>
          </ac:spMkLst>
        </pc:spChg>
        <pc:spChg chg="mod">
          <ac:chgData name="Sam Joel" userId="e176d113b13744d1" providerId="LiveId" clId="{B0572F57-E072-4CA0-90E7-0CFE9A8EF8BE}" dt="2025-07-07T05:14:21.019" v="529" actId="1076"/>
          <ac:spMkLst>
            <pc:docMk/>
            <pc:sldMk cId="7630729" sldId="256"/>
            <ac:spMk id="12" creationId="{00000000-0000-0000-0000-000000000000}"/>
          </ac:spMkLst>
        </pc:spChg>
        <pc:spChg chg="del">
          <ac:chgData name="Sam Joel" userId="e176d113b13744d1" providerId="LiveId" clId="{B0572F57-E072-4CA0-90E7-0CFE9A8EF8BE}" dt="2025-07-07T04:50:55.219" v="11" actId="478"/>
          <ac:spMkLst>
            <pc:docMk/>
            <pc:sldMk cId="7630729" sldId="256"/>
            <ac:spMk id="13" creationId="{00000000-0000-0000-0000-000000000000}"/>
          </ac:spMkLst>
        </pc:spChg>
        <pc:spChg chg="del">
          <ac:chgData name="Sam Joel" userId="e176d113b13744d1" providerId="LiveId" clId="{B0572F57-E072-4CA0-90E7-0CFE9A8EF8BE}" dt="2025-07-07T04:50:58.758" v="13" actId="478"/>
          <ac:spMkLst>
            <pc:docMk/>
            <pc:sldMk cId="7630729" sldId="256"/>
            <ac:spMk id="17" creationId="{00000000-0000-0000-0000-000000000000}"/>
          </ac:spMkLst>
        </pc:spChg>
        <pc:picChg chg="mod">
          <ac:chgData name="Sam Joel" userId="e176d113b13744d1" providerId="LiveId" clId="{B0572F57-E072-4CA0-90E7-0CFE9A8EF8BE}" dt="2025-07-07T05:14:16.249" v="528" actId="14100"/>
          <ac:picMkLst>
            <pc:docMk/>
            <pc:sldMk cId="7630729" sldId="256"/>
            <ac:picMk id="9" creationId="{00000000-0000-0000-0000-000000000000}"/>
          </ac:picMkLst>
        </pc:picChg>
        <pc:picChg chg="del">
          <ac:chgData name="Sam Joel" userId="e176d113b13744d1" providerId="LiveId" clId="{B0572F57-E072-4CA0-90E7-0CFE9A8EF8BE}" dt="2025-07-07T04:50:37.968" v="8" actId="478"/>
          <ac:picMkLst>
            <pc:docMk/>
            <pc:sldMk cId="7630729" sldId="256"/>
            <ac:picMk id="16" creationId="{00000000-0000-0000-0000-000000000000}"/>
          </ac:picMkLst>
        </pc:picChg>
        <pc:picChg chg="del">
          <ac:chgData name="Sam Joel" userId="e176d113b13744d1" providerId="LiveId" clId="{B0572F57-E072-4CA0-90E7-0CFE9A8EF8BE}" dt="2025-07-07T04:50:53.030" v="10" actId="478"/>
          <ac:picMkLst>
            <pc:docMk/>
            <pc:sldMk cId="7630729" sldId="256"/>
            <ac:picMk id="18" creationId="{00000000-0000-0000-0000-000000000000}"/>
          </ac:picMkLst>
        </pc:picChg>
      </pc:sldChg>
      <pc:sldChg chg="setBg">
        <pc:chgData name="Sam Joel" userId="e176d113b13744d1" providerId="LiveId" clId="{B0572F57-E072-4CA0-90E7-0CFE9A8EF8BE}" dt="2025-07-07T04:59:33.488" v="242"/>
        <pc:sldMkLst>
          <pc:docMk/>
          <pc:sldMk cId="0" sldId="257"/>
        </pc:sldMkLst>
      </pc:sldChg>
      <pc:sldChg chg="modSp mod">
        <pc:chgData name="Sam Joel" userId="e176d113b13744d1" providerId="LiveId" clId="{B0572F57-E072-4CA0-90E7-0CFE9A8EF8BE}" dt="2025-07-07T04:51:53.980" v="15" actId="12788"/>
        <pc:sldMkLst>
          <pc:docMk/>
          <pc:sldMk cId="0" sldId="261"/>
        </pc:sldMkLst>
        <pc:picChg chg="mod">
          <ac:chgData name="Sam Joel" userId="e176d113b13744d1" providerId="LiveId" clId="{B0572F57-E072-4CA0-90E7-0CFE9A8EF8BE}" dt="2025-07-07T04:51:53.980" v="15" actId="12788"/>
          <ac:picMkLst>
            <pc:docMk/>
            <pc:sldMk cId="0" sldId="261"/>
            <ac:picMk id="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FD51E4-31DA-4A86-9AC4-64B997C87AB3}" type="datetimeFigureOut">
              <a:rPr lang="en-IN" smtClean="0"/>
              <a:t>08-07-2025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FDE0C-5FA4-4347-840B-7876BE52481D}" type="slidenum">
              <a:rPr lang="en-IN" smtClean="0"/>
              <a:t>‹#›</a:t>
            </a:fld>
            <a:endParaRPr lang="en-IN"/>
          </a:p>
        </p:txBody>
      </p:sp>
    </p:spTree>
    <p:extLst>
      <p:ext uri="{BB962C8B-B14F-4D97-AF65-F5344CB8AC3E}">
        <p14:creationId xmlns:p14="http://schemas.microsoft.com/office/powerpoint/2010/main" val="283129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5FDE0C-5FA4-4347-840B-7876BE52481D}" type="slidenum">
              <a:rPr lang="en-IN" smtClean="0"/>
              <a:t>1</a:t>
            </a:fld>
            <a:endParaRPr lang="en-IN"/>
          </a:p>
        </p:txBody>
      </p:sp>
    </p:spTree>
    <p:extLst>
      <p:ext uri="{BB962C8B-B14F-4D97-AF65-F5344CB8AC3E}">
        <p14:creationId xmlns:p14="http://schemas.microsoft.com/office/powerpoint/2010/main" val="2219689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Female Employees</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Male Employees</a:t>
            </a:r>
            <a:endParaRPr dirty="0"/>
          </a:p>
          <a:p>
            <a:r>
              <a:rPr b="0" dirty="0"/>
              <a:t>No alt text provided</a:t>
            </a:r>
            <a:endParaRPr dirty="0"/>
          </a:p>
          <a:p>
            <a:endParaRPr dirty="0"/>
          </a:p>
          <a:p>
            <a:r>
              <a:rPr b="1" dirty="0"/>
              <a:t>Department-wise Attrition Distribution</a:t>
            </a:r>
            <a:endParaRPr dirty="0"/>
          </a:p>
          <a:p>
            <a:r>
              <a:rPr b="0" dirty="0"/>
              <a:t>No alt text provided</a:t>
            </a:r>
            <a:endParaRPr dirty="0"/>
          </a:p>
          <a:p>
            <a:endParaRPr dirty="0"/>
          </a:p>
          <a:p>
            <a:r>
              <a:rPr b="1" dirty="0"/>
              <a:t>Average Overtime Amount by Band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Employee Age Group Distribution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Active Employees</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Attrition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Overall Employees</a:t>
            </a:r>
            <a:endParaRPr dirty="0"/>
          </a:p>
          <a:p>
            <a:r>
              <a:rPr b="0" dirty="0"/>
              <a:t>No alt text provided</a:t>
            </a:r>
            <a:endParaRPr dirty="0"/>
          </a:p>
          <a:p>
            <a:endParaRPr dirty="0"/>
          </a:p>
          <a:p>
            <a:r>
              <a:rPr b="1" dirty="0"/>
              <a:t>Type of movement</a:t>
            </a:r>
            <a:endParaRPr dirty="0"/>
          </a:p>
          <a:p>
            <a:r>
              <a:rPr b="0" dirty="0"/>
              <a:t>No alt text provided</a:t>
            </a:r>
            <a:endParaRPr dirty="0"/>
          </a:p>
          <a:p>
            <a:endParaRPr dirty="0"/>
          </a:p>
          <a:p>
            <a:r>
              <a:rPr b="1" dirty="0"/>
              <a:t>Active Employees by Department</a:t>
            </a:r>
            <a:endParaRPr dirty="0"/>
          </a:p>
          <a:p>
            <a:r>
              <a:rPr b="0" dirty="0"/>
              <a:t>No alt text provided</a:t>
            </a:r>
            <a:endParaRPr dirty="0"/>
          </a:p>
          <a:p>
            <a:endParaRPr dirty="0"/>
          </a:p>
          <a:p>
            <a:r>
              <a:rPr b="1" dirty="0"/>
              <a:t>Hiring vs Attrition Over Time</a:t>
            </a:r>
            <a:endParaRPr dirty="0"/>
          </a:p>
          <a:p>
            <a:r>
              <a:rPr b="0" dirty="0"/>
              <a:t>No alt text provided</a:t>
            </a:r>
            <a:endParaRPr dirty="0"/>
          </a:p>
          <a:p>
            <a:endParaRPr dirty="0"/>
          </a:p>
          <a:p>
            <a:r>
              <a:rPr b="1" dirty="0"/>
              <a:t>Depratment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Employee Location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Attrition rate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Department-wise All Employees</a:t>
            </a:r>
            <a:endParaRPr dirty="0"/>
          </a:p>
          <a:p>
            <a:r>
              <a:rPr b="0" dirty="0"/>
              <a:t>No alt text provided</a:t>
            </a:r>
            <a:endParaRPr dirty="0"/>
          </a:p>
          <a:p>
            <a:endParaRPr dirty="0"/>
          </a:p>
          <a:p>
            <a:r>
              <a:rPr b="1" dirty="0"/>
              <a:t>Employee Distribution by Age Group</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Employee Type </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Active Employees</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Total Employees</a:t>
            </a:r>
            <a:endParaRPr dirty="0"/>
          </a:p>
          <a:p>
            <a:r>
              <a:rPr b="0" dirty="0"/>
              <a:t>No alt text provided</a:t>
            </a:r>
            <a:endParaRPr dirty="0"/>
          </a:p>
          <a:p>
            <a:endParaRPr dirty="0"/>
          </a:p>
          <a:p>
            <a:r>
              <a:rPr b="1" dirty="0"/>
              <a:t>Employee Gender Distribution</a:t>
            </a:r>
            <a:endParaRPr dirty="0"/>
          </a:p>
          <a:p>
            <a:r>
              <a:rPr b="0" dirty="0"/>
              <a:t>No alt text provided</a:t>
            </a:r>
            <a:endParaRPr dirty="0"/>
          </a:p>
          <a:p>
            <a:endParaRPr dirty="0"/>
          </a:p>
          <a:p>
            <a:r>
              <a:rPr b="1" dirty="0"/>
              <a:t>Empl;oyee status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Employee Distribution by Tenure</a:t>
            </a:r>
            <a:endParaRPr dirty="0"/>
          </a:p>
          <a:p>
            <a:r>
              <a:rPr b="0" dirty="0"/>
              <a:t>No alt text provided</a:t>
            </a:r>
            <a:endParaRPr dirty="0"/>
          </a:p>
          <a:p>
            <a:endParaRPr dirty="0"/>
          </a:p>
          <a:p>
            <a:r>
              <a:rPr b="1" dirty="0"/>
              <a:t>Department-wise Active Employees</a:t>
            </a:r>
            <a:endParaRPr dirty="0"/>
          </a:p>
          <a:p>
            <a:r>
              <a:rPr b="0" dirty="0"/>
              <a:t>No alt text provided</a:t>
            </a:r>
            <a:endParaRPr dirty="0"/>
          </a:p>
          <a:p>
            <a:endParaRPr dirty="0"/>
          </a:p>
          <a:p>
            <a:r>
              <a:rPr b="1" dirty="0"/>
              <a:t>Year-over-Year Hiring Trend</a:t>
            </a:r>
            <a:endParaRPr dirty="0"/>
          </a:p>
          <a:p>
            <a:r>
              <a:rPr b="0" dirty="0"/>
              <a:t>No alt text provided</a:t>
            </a:r>
            <a:endParaRPr dirty="0"/>
          </a:p>
          <a:p>
            <a:endParaRPr dirty="0"/>
          </a:p>
          <a:p>
            <a:r>
              <a:rPr b="1" dirty="0"/>
              <a:t>Employee Demographics Overview</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Attrition by Age Group</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Attrition by Tenure Band (Years)</a:t>
            </a:r>
            <a:endParaRPr dirty="0"/>
          </a:p>
          <a:p>
            <a:r>
              <a:rPr b="0" dirty="0"/>
              <a:t>No alt text provided</a:t>
            </a:r>
            <a:endParaRPr dirty="0"/>
          </a:p>
          <a:p>
            <a:endParaRPr dirty="0"/>
          </a:p>
          <a:p>
            <a:r>
              <a:rPr b="1" dirty="0"/>
              <a:t>Department-wise Attrition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Attrition</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Attrition rate</a:t>
            </a:r>
            <a:endParaRPr dirty="0"/>
          </a:p>
          <a:p>
            <a:r>
              <a:rPr b="0" dirty="0"/>
              <a:t>No alt text provided</a:t>
            </a:r>
            <a:endParaRPr dirty="0"/>
          </a:p>
          <a:p>
            <a:endParaRPr dirty="0"/>
          </a:p>
          <a:p>
            <a:r>
              <a:rPr b="1" dirty="0"/>
              <a:t>Attrition by Band</a:t>
            </a:r>
            <a:endParaRPr dirty="0"/>
          </a:p>
          <a:p>
            <a:r>
              <a:rPr b="0" dirty="0"/>
              <a:t>No alt text provided</a:t>
            </a:r>
            <a:endParaRPr dirty="0"/>
          </a:p>
          <a:p>
            <a:endParaRPr dirty="0"/>
          </a:p>
          <a:p>
            <a:r>
              <a:rPr b="1" dirty="0"/>
              <a:t>Year-over-Year Attrition Trend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Band-wise Overtime</a:t>
            </a:r>
            <a:endParaRPr dirty="0"/>
          </a:p>
          <a:p>
            <a:r>
              <a:rPr b="0" dirty="0"/>
              <a:t>No alt text provided</a:t>
            </a:r>
            <a:endParaRPr dirty="0"/>
          </a:p>
          <a:p>
            <a:endParaRPr dirty="0"/>
          </a:p>
          <a:p>
            <a:r>
              <a:rPr b="1" dirty="0"/>
              <a:t>Overtime by Tenure &amp; Region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Total OT Amount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Average OT Amount</a:t>
            </a:r>
            <a:endParaRPr dirty="0"/>
          </a:p>
          <a:p>
            <a:r>
              <a:rPr b="0" dirty="0"/>
              <a:t>No alt text provided</a:t>
            </a:r>
            <a:endParaRPr dirty="0"/>
          </a:p>
          <a:p>
            <a:endParaRPr dirty="0"/>
          </a:p>
          <a:p>
            <a:r>
              <a:rPr b="1" dirty="0"/>
              <a:t>Band-wise Overtime by Department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Top 3 Overtime Employees</a:t>
            </a:r>
            <a:endParaRPr dirty="0"/>
          </a:p>
          <a:p>
            <a:r>
              <a:rPr b="0" dirty="0"/>
              <a:t>No alt text provided</a:t>
            </a:r>
            <a:endParaRPr dirty="0"/>
          </a:p>
          <a:p>
            <a:endParaRPr dirty="0"/>
          </a:p>
          <a:p>
            <a:r>
              <a:rPr b="1" dirty="0"/>
              <a:t>Topn Filter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Quarterly OT Expenses</a:t>
            </a:r>
            <a:endParaRPr dirty="0"/>
          </a:p>
          <a:p>
            <a:r>
              <a:rPr b="0" dirty="0"/>
              <a:t>No alt text provided</a:t>
            </a:r>
            <a:endParaRPr dirty="0"/>
          </a:p>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Promotion</a:t>
            </a:r>
            <a:endParaRPr dirty="0"/>
          </a:p>
          <a:p>
            <a:r>
              <a:rPr b="0" dirty="0"/>
              <a:t>No alt text provided</a:t>
            </a:r>
            <a:endParaRPr dirty="0"/>
          </a:p>
          <a:p>
            <a:endParaRPr dirty="0"/>
          </a:p>
          <a:p>
            <a:r>
              <a:rPr b="1" dirty="0"/>
              <a:t>Promotions and Transfers by Department</a:t>
            </a:r>
            <a:endParaRPr dirty="0"/>
          </a:p>
          <a:p>
            <a:r>
              <a:rPr b="0" dirty="0"/>
              <a:t>No alt text provided</a:t>
            </a:r>
            <a:endParaRPr dirty="0"/>
          </a:p>
          <a:p>
            <a:endParaRPr dirty="0"/>
          </a:p>
          <a:p>
            <a:r>
              <a:rPr b="1" dirty="0"/>
              <a:t>Event Count by Type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Promotion Year</a:t>
            </a:r>
            <a:endParaRPr dirty="0"/>
          </a:p>
          <a:p>
            <a:r>
              <a:rPr b="0" dirty="0"/>
              <a:t>No alt text provided</a:t>
            </a:r>
            <a:endParaRPr dirty="0"/>
          </a:p>
          <a:p>
            <a:endParaRPr dirty="0"/>
          </a:p>
          <a:p>
            <a:r>
              <a:rPr b="1" dirty="0"/>
              <a:t>Department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International Transfer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Internal Recruitment</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Avg. Time to Promotion (Yrs)</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08-07-2025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08-07-2025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08-07-2025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08-07-2025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08-07-2025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08-07-2025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08-07-2025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08-07-2025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08-07-2025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08-07-2025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08-07-2025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08-07-2025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36ec3f16-8b8c-49b1-82cc-e4a03f101f43/?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36ec3f16-8b8c-49b1-82cc-e4a03f101f43/?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36ec3f16-8b8c-49b1-82cc-e4a03f101f43/?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36ec3f16-8b8c-49b1-82cc-e4a03f101f43/?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app.powerbi.com/groups/me/reports/36ec3f16-8b8c-49b1-82cc-e4a03f101f43/?pbi_source=PowerPoin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4CA6A8"/>
            </a:gs>
            <a:gs pos="65000">
              <a:srgbClr val="AED9DA"/>
            </a:gs>
            <a:gs pos="100000">
              <a:srgbClr val="5DB4B6"/>
            </a:gs>
          </a:gsLst>
          <a:lin ang="2700000" scaled="0"/>
        </a:gra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 xmlns:adec="http://schemas.microsoft.com/office/drawing/2017/decorative" val="1"/>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colorTemperature colorTemp="6400"/>
                    </a14:imgEffect>
                    <a14:imgEffect>
                      <a14:saturation sat="399000"/>
                    </a14:imgEffect>
                  </a14:imgLayer>
                </a14:imgProps>
              </a:ext>
              <a:ext uri="{28A0092B-C50C-407E-A947-70E740481C1C}">
                <a14:useLocalDpi xmlns:a14="http://schemas.microsoft.com/office/drawing/2010/main" val="0"/>
              </a:ext>
            </a:extLst>
          </a:blip>
          <a:stretch>
            <a:fillRect/>
          </a:stretch>
        </p:blipFill>
        <p:spPr>
          <a:xfrm>
            <a:off x="1" y="0"/>
            <a:ext cx="12192000" cy="6857999"/>
          </a:xfrm>
          <a:prstGeom prst="rect">
            <a:avLst/>
          </a:prstGeom>
          <a:noFill/>
          <a:ln>
            <a:noFill/>
          </a:ln>
        </p:spPr>
      </p:pic>
      <p:sp>
        <p:nvSpPr>
          <p:cNvPr id="12" name="Title 1"/>
          <p:cNvSpPr txBox="1">
            <a:spLocks noGrp="1"/>
          </p:cNvSpPr>
          <p:nvPr>
            <p:ph type="title" idx="4294967295"/>
          </p:nvPr>
        </p:nvSpPr>
        <p:spPr>
          <a:xfrm>
            <a:off x="466740" y="2419530"/>
            <a:ext cx="5344779" cy="770454"/>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1" i="0" u="none" strike="noStrike" kern="1200" cap="none" spc="0" normalizeH="0" baseline="0" noProof="0" dirty="0">
                <a:ln>
                  <a:solidFill>
                    <a:srgbClr val="347274"/>
                  </a:solidFill>
                </a:ln>
                <a:solidFill>
                  <a:schemeClr val="bg1"/>
                </a:solidFill>
                <a:effectLst/>
                <a:uLnTx/>
                <a:uFillTx/>
                <a:latin typeface="Arial Black" panose="020B0A04020102020204" pitchFamily="34" charset="0"/>
                <a:cs typeface="Times New Roman" panose="02020603050405020304" pitchFamily="18" charset="0"/>
              </a:rPr>
              <a:t>HR Analysis</a:t>
            </a:r>
          </a:p>
        </p:txBody>
      </p:sp>
    </p:spTree>
    <p:extLst>
      <p:ext uri="{BB962C8B-B14F-4D97-AF65-F5344CB8AC3E}">
        <p14:creationId xmlns:p14="http://schemas.microsoft.com/office/powerpoint/2010/main" val="76307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image ,Female Employees ,image ,Male Employees ,Department-wise Attrition Distribution ,Average Overtime Amount by Band ,slicer ,Employee Age Group Distribution ,image ,Active Employees ,image ,Attrition ,image ,Overall Employees ,Type of movement ,Active Employees by Department ,Hiring vs Attrition Over Time ,Depratment ,shape ,Employee Location ,image ,Attrition rate. Please refer to the notes on this slide for details">
            <a:hlinkClick r:id="rId3"/>
          </p:cNvPr>
          <p:cNvPicPr>
            <a:picLocks noChangeAspect="1"/>
          </p:cNvPicPr>
          <p:nvPr/>
        </p:nvPicPr>
        <p:blipFill>
          <a:blip r:embed="rId4"/>
          <a:stretch>
            <a:fillRect/>
          </a:stretch>
        </p:blipFill>
        <p:spPr>
          <a:xfrm>
            <a:off x="85725" y="0"/>
            <a:ext cx="12020550" cy="6858000"/>
          </a:xfrm>
          <a:prstGeom prst="rect">
            <a:avLst/>
          </a:prstGeom>
          <a:noFill/>
        </p:spPr>
      </p:pic>
      <p:sp>
        <p:nvSpPr>
          <p:cNvPr id="4" name="Title" hidden="1"/>
          <p:cNvSpPr>
            <a:spLocks noGrp="1"/>
          </p:cNvSpPr>
          <p:nvPr>
            <p:ph type="title"/>
          </p:nvPr>
        </p:nvSpPr>
        <p:spPr/>
        <p:txBody>
          <a:bodyPr/>
          <a:lstStyle/>
          <a:p>
            <a:r>
              <a:t>Drill Down Dashboard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epartment-wise All Employees ,Employee Distribution by Age Group ,slicer ,Employee Type  ,image ,Active Employees ,image ,Total Employees ,Employee Gender Distribution ,Empl;oyee status ,slicer ,Employee Distribution by Tenure ,Department-wise Active Employees ,Year-over-Year Hiring Trend ,Employee Demographics Overview.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Demographics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ttrition by Age Group ,slicer ,Attrition by Tenure Band (Years) ,Department-wise Attrition ,shape ,image ,Attrition ,image ,Attrition rate ,Attrition by Band ,Year-over-Year Attrition Trend ,slicer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Turnover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Band-wise Overtime ,Overtime by Tenure &amp; Region ,shape ,image ,Total OT Amount ,image ,Average OT Amount ,Band-wise Overtime by Department ,slicer ,slicer ,Top 3 Overtime Employees ,Topn Filter ,slicer ,Quarterly OT Expense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Over Time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image ,Promotion ,Promotions and Transfers by Department ,Event Count by Type ,slicer ,Promotion Year ,Department ,image ,International Transfer ,image ,Internal Recruitment ,image ,Avg. Time to Promotion (Yrs).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Promotion &amp; Transfer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TotalTime>
  <Words>498</Words>
  <Application>Microsoft Office PowerPoint</Application>
  <PresentationFormat>Widescreen</PresentationFormat>
  <Paragraphs>236</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Arial Black</vt:lpstr>
      <vt:lpstr>Calibri</vt:lpstr>
      <vt:lpstr>Calibri Light</vt:lpstr>
      <vt:lpstr>Segoe UI Light</vt:lpstr>
      <vt:lpstr>Times New Roman</vt:lpstr>
      <vt:lpstr>Custom Design</vt:lpstr>
      <vt:lpstr>HR Analysis</vt:lpstr>
      <vt:lpstr>Drill Down Dashboard</vt:lpstr>
      <vt:lpstr>Demographics</vt:lpstr>
      <vt:lpstr>Turnover</vt:lpstr>
      <vt:lpstr>Over Time</vt:lpstr>
      <vt:lpstr>Promotion &amp; Transfer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Sam Joel</cp:lastModifiedBy>
  <cp:revision>6</cp:revision>
  <dcterms:created xsi:type="dcterms:W3CDTF">2016-09-04T11:54:55Z</dcterms:created>
  <dcterms:modified xsi:type="dcterms:W3CDTF">2025-07-08T12:31:33Z</dcterms:modified>
</cp:coreProperties>
</file>